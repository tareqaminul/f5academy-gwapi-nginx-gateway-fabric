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67" r:id="rId4"/>
    <p:sldId id="2147483178" r:id="rId5"/>
    <p:sldId id="2147483180" r:id="rId6"/>
    <p:sldId id="21474831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46"/>
    <p:restoredTop sz="94657"/>
  </p:normalViewPr>
  <p:slideViewPr>
    <p:cSldViewPr snapToGrid="0">
      <p:cViewPr>
        <p:scale>
          <a:sx n="272" d="100"/>
          <a:sy n="272" d="100"/>
        </p:scale>
        <p:origin x="2736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498F4-4071-7D42-9DF9-6BD0DDD8C9C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70A82-507C-4742-8BD0-DED27A9CA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ginx/nginx-gateway-fabric/pull/3084" TargetMode="External"/><Relationship Id="rId3" Type="http://schemas.openxmlformats.org/officeDocument/2006/relationships/hyperlink" Target="https://github.com/nginx/nginx-gateway-fabric/pull/3318" TargetMode="External"/><Relationship Id="rId7" Type="http://schemas.openxmlformats.org/officeDocument/2006/relationships/hyperlink" Target="https://github.com/nginx/nginx-gateway-fabric/pull/3306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nginx/nginx-gateway-fabric/pull/3093" TargetMode="External"/><Relationship Id="rId5" Type="http://schemas.openxmlformats.org/officeDocument/2006/relationships/hyperlink" Target="https://github.com/nginx/nginx-gateway-fabric/pull/3066" TargetMode="External"/><Relationship Id="rId4" Type="http://schemas.openxmlformats.org/officeDocument/2006/relationships/hyperlink" Target="https://github.com/nginx/nginx-gateway-fabric/pull/3067" TargetMode="External"/><Relationship Id="rId9" Type="http://schemas.openxmlformats.org/officeDocument/2006/relationships/hyperlink" Target="https://github.com/porthorian" TargetMode="Externa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ginx/nginx-gateway-fabric/pull/3084" TargetMode="External"/><Relationship Id="rId3" Type="http://schemas.openxmlformats.org/officeDocument/2006/relationships/hyperlink" Target="https://github.com/nginx/nginx-gateway-fabric/pull/3318" TargetMode="External"/><Relationship Id="rId7" Type="http://schemas.openxmlformats.org/officeDocument/2006/relationships/hyperlink" Target="https://github.com/nginx/nginx-gateway-fabric/pull/3306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nginx/nginx-gateway-fabric/pull/3093" TargetMode="External"/><Relationship Id="rId5" Type="http://schemas.openxmlformats.org/officeDocument/2006/relationships/hyperlink" Target="https://github.com/nginx/nginx-gateway-fabric/pull/3066" TargetMode="External"/><Relationship Id="rId4" Type="http://schemas.openxmlformats.org/officeDocument/2006/relationships/hyperlink" Target="https://github.com/nginx/nginx-gateway-fabric/pull/3067" TargetMode="External"/><Relationship Id="rId9" Type="http://schemas.openxmlformats.org/officeDocument/2006/relationships/hyperlink" Target="https://github.com/porthorian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</a:rPr>
              <a:t>AIX 7.3 TL2</a:t>
            </a:r>
            <a:endParaRPr lang="en-US" sz="1800" dirty="0">
              <a:effectLst/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62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new in 2.0.0: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for creating and deploying multiple Gateways.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NginxProxy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can now additionally be attached to a Gateway, and will overwrite any settings that are attached at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GatewayClass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for the Gateway that it's attached to.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Listener isolation supported for all routes.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3067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configuration of NGINX Plus API access.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regex matching for headers and query params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headers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3093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support for request mirroring using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RequestMirror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support for Secrets to be used in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BackendTLSPolicy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TLS certificates and CA certificates.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3084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Thanks to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porthorian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74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4187-BFDD-6053-D7A8-2A0F5275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1DE10-B643-202E-F01F-191A8C63E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0FFFF-C650-3262-3C56-AF25062F7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new in 2.0.0: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for creating and deploying multiple Gateways.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NginxProxy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resource can now additionally be attached to a Gateway, and will overwrite any settings that are attached at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GatewayClass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level, for the Gateway that it's attached to.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3318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Listener isolation supported for all routes.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3067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 configuration of NGINX Plus API access.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regex matching for headers and query params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headers for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GRPCRoutes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3093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support for request mirroring using the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RequestMirror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3066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Adds support for Secrets to be used in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BackendTLSPolicy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TLS certificates and CA certificates.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3084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Thanks to </a:t>
            </a:r>
            <a:r>
              <a:rPr lang="en-PH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porthorian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1B2E-D87A-A41E-9F26-69540B47B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4DF04-829D-984C-BDC1-FBC69DF288AD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5545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94F6-7B41-0986-ECBD-153837930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05AC8-C18D-6871-1529-632F9BE6D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5BA8A-D4E3-2A82-9C6C-62428818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1126-FFDB-90C5-9D7C-BE34E12A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5A545-6C96-90E8-6112-A485C105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4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4EC6-905B-6EDD-78A8-516257F2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A559-7885-D722-1132-A5C70DB15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718F-2E58-4BDF-2192-BFDD9B3A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9D5A7-18C4-E533-458A-77EE189C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4721B-7F91-6613-1215-3CAD32AA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2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D658-67CE-694A-D006-ABB30413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AF0B0-33F7-B13E-4EBB-18131E8BE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DD8-F79B-4589-66B8-96B1402A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BC04-D6AB-A943-FBEC-28BACF60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153AD-2490-FF1F-F6EB-8AF514A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4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1A9B-08F3-8E57-AB69-61C6EFF7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8B2D-5DF2-31DF-8A06-2D586882A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EF49C-C248-031B-5536-A65394F1B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BBD3E-EEF8-53EF-8145-AB38CD4F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B428B-382E-D98D-BFC7-E1654E58C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BE1BA-3756-8DE3-90AD-2B562802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6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8302-67EA-908C-A086-96D635C6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E45C7-7A5D-F354-FB1D-D52529F75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6360E-D146-D0E6-F7D8-C96271315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E196A-D279-8358-19B9-F5191B720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A9834-1151-BF94-11DB-9D7177A22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60929-017A-5B63-8303-5EDDEA96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88F19-2486-9CCD-A72E-D8A17875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F8556-41B6-A442-FAB5-AA1E4D2E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E805-EAE4-FB8B-0E3D-4FA7897C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0FB08-08C4-7829-9D5F-24D769F9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0F2CF-DA0D-31AA-A7C0-BEC91211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1EE37-DE39-97AC-7B95-0CDD900C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1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9F0A2-C621-D7CE-7479-8C3F233D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2A1AA-9D51-6445-6075-2B72E2D3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4163C-7CE3-8642-2303-EAC260FA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5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0DCC-A413-A6CC-B62C-64028BE5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C236-A77A-E2DA-C1FD-C3555F0D4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B401-3B8D-1048-07AF-18E0F5D96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A9805-E5DB-3C76-38B8-F60AA9785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E1257-95E4-4609-1E6F-B25E10E4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80014-A79F-92C4-0570-C25AD07C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6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07D5-11CF-A798-7AEF-61E5304C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18AE2-E1F6-349F-9FAA-B8C19159C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ECBF0-FF4F-6AF2-8122-8FEB577AD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51CBF-EA10-EA09-882D-FD0EF437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D1878-452F-CBBF-42D1-C1E7BB26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2770D-97E5-72FB-FD7A-6911C3FE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3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ED31-4250-8FAE-9927-05E73501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AEDCB-F652-80E1-93E4-5AD48FCDB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A6A33-22FA-255C-56CF-91E8F55B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08FBC-751A-3161-7E57-445104B6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6716-3771-B5A8-9586-AE2F2F25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1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74365-3CBE-D997-8B21-2BBDFAC30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75FFE-109E-316A-5AF0-FBB213302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32DA-F154-83FF-6940-2738F9F0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5503-A140-BF53-D83E-D8504BB5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9C602-7A72-CC62-F5EC-9CEE5CDA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59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2">
            <a:extLst>
              <a:ext uri="{FF2B5EF4-FFF2-40B4-BE49-F238E27FC236}">
                <a16:creationId xmlns:a16="http://schemas.microsoft.com/office/drawing/2014/main" id="{42A43BDF-5778-42C4-9684-F547222BF0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899" y="471509"/>
            <a:ext cx="607061" cy="607061"/>
            <a:chOff x="5266" y="0"/>
            <a:chExt cx="733" cy="733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2921929D-07DB-4DEB-8A8F-EECF0B8D3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C47742A-259D-4716-AE5E-1149FBA060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2C69EFD-13B9-4F32-8951-2716108A9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DFD7902-75E6-4284-B2D1-DACA33F78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270F482F-1ED7-4D09-85FC-A4B6B1D003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AF7A64-D462-4536-8E54-BC1645DA5D6D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414CAB4-D32A-40E5-BC4F-70AB6275024B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384026C-3558-4FBE-92B9-E38A985E6F3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F5ED1F-67E0-4072-860A-04BCD4C7E26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857133-B537-4074-AF85-5E98C63012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5B67588-0B6E-4226-B394-241E4F152F5B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331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C11273B3-D7B1-42B5-86F7-11127784670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899" y="471509"/>
            <a:ext cx="603504" cy="603504"/>
            <a:chOff x="5266" y="0"/>
            <a:chExt cx="733" cy="733"/>
          </a:xfrm>
        </p:grpSpPr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A1B0966E-5181-4934-9D7E-C6FC708D23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2BE7D59A-96D7-4866-97B3-1E01EA3776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D40889E3-2864-495F-A1BC-AAD592864E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11A214B-B1E2-4587-AE79-1889469D21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78D0120-617D-4763-B2B5-BA009F21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A1DEC4-3D42-4FE4-B0EA-1CE4694837B1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908D73-F652-41E0-BA6F-D40E54B3BE19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1E0D2F-D8AE-4A86-BD93-B90F60229A0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3DDAFA-9A22-4A27-BB1C-21AF610A87AA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729A57-8AF3-40C9-AF2B-1BAC2964AC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6C6C56-9A42-43F5-8DA4-1F43315DCC6D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9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457201" y="1143000"/>
            <a:ext cx="7315200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78D0120-617D-4763-B2B5-BA009F219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315199" cy="17748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228600" indent="-2286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40E79D-6228-874B-9EA6-E8BFFBCDB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899" y="457217"/>
            <a:ext cx="1371600" cy="220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EE4E5C-C2EB-F14F-AF5E-CBDBB9020E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6143812"/>
            <a:ext cx="1101452" cy="43638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40BC79B-8FDC-AA44-88A9-4F5F30798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9007"/>
          <a:stretch/>
        </p:blipFill>
        <p:spPr>
          <a:xfrm>
            <a:off x="8060265" y="457201"/>
            <a:ext cx="4131736" cy="594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559F-436D-469C-A419-AE01C38B8C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968498"/>
            <a:ext cx="11277600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8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61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3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5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1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4635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85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7028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3A4E5-53F5-4965-A7CC-A30FF6C42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967112"/>
            <a:ext cx="11274425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0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9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FE581CB-9630-442F-9F85-5B73CB1A97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55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73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D172E0-9AA6-41A2-8A2C-69AC58E1A52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9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8B5D3F9-9FEE-4FC1-8557-65F2161D1E1B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26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3543151-CB72-4095-A281-6E166F8202F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57200" y="876632"/>
            <a:ext cx="11274552" cy="373436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3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BB41-B2C8-4A28-B359-E94FA0C34D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967113"/>
            <a:ext cx="11277600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3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8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5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2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4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2AF7A-2465-4F0F-A08C-14ACD96BCA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1967113"/>
            <a:ext cx="11274425" cy="134575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8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19BF881-191A-4C89-9CA9-B03A208B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E5BEB5D-75B8-4918-93B2-B443D35A57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320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72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843707F-B45E-45FC-9FE9-0815D75BC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143D6D5-0D4B-4353-9C0C-195451C5A5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320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42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0E464D7-775C-4C1A-A4A8-BF8F444195B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EA99AE5-C520-4034-BD81-FB644B5F2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511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5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A2CB71B-425A-44AE-8C0B-0B2237A7A1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6E686C1-0BF8-4DA5-B78B-25AE01BD4AF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EC713FD-A64A-44DB-8150-B655DEE6928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7BE03809-C0DF-4EF8-BEA1-6B7E7F85AC5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20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36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9950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spc="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dirty="0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1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9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: No co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615A8-327B-4608-AE56-D78B4340B2E0}"/>
              </a:ext>
            </a:extLst>
          </p:cNvPr>
          <p:cNvSpPr/>
          <p:nvPr userDrawn="1"/>
        </p:nvSpPr>
        <p:spPr>
          <a:xfrm>
            <a:off x="0" y="0"/>
            <a:ext cx="12192000" cy="396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C5F49995-AC59-4648-909B-EEE86EF0D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87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4E39D-02B5-4EE4-99B9-C0D2231E9DEE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F54EF-48EB-445A-AE3B-5B7414B46184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385086-52B0-461C-9B1A-801101060D41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FAA5F1-3BE8-4532-9AB2-5F11531934F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96AB4F-981C-42CD-AB72-56C656298E7C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1E1ED31-FE14-438B-A0AE-0D18387D7887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3C3EE6-28AE-4250-A1B9-C162452BE654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80837F-9490-4F17-AC5A-000B9FAF4752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96956657-EE8F-4A18-94D4-7EE48926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subhead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42B8F-29FB-40FC-8478-EFAB2A2B7B8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E7775-1037-4552-B402-0A56E85EEF4A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14591-B618-4FBB-BDE8-3B61540817CD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D73356-48D8-4E4B-90CF-5DC74ADBFE43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0FFC57-DE8E-4345-910F-80B40B218C22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0A6C5CE-626B-4A3F-93CA-25F91910FAF2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098298-CD7C-42C1-A93E-76594A2FC1B2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E5CA597-D598-4588-8DDE-8C81E44C6946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9DC4898F-D35A-4AB0-827D-5C13E453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94E39D-02B5-4EE4-99B9-C0D2231E9DEE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F54EF-48EB-445A-AE3B-5B7414B46184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96956657-EE8F-4A18-94D4-7EE489264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D0D751F-A927-0A49-A708-5B7576637007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3F3204-0C60-264C-B79A-45D5479E2877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B6C99F-6C3B-944E-A6D5-E8D10D5BFBF7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E041BC-5154-724B-9A81-31BB44D20E37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96A6AC-5261-364B-8FBA-75788FD2F312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BE3176-F01C-8744-8E98-E9A4650C012A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6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with subhead: Deep Lak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7" name="Group 22">
            <a:extLst>
              <a:ext uri="{FF2B5EF4-FFF2-40B4-BE49-F238E27FC236}">
                <a16:creationId xmlns:a16="http://schemas.microsoft.com/office/drawing/2014/main" id="{E81C2FB5-A4C5-47F5-8604-A8693D6F2F7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62E0890-58BF-4B2C-856B-D6D2E94F69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F0ECFCF-334C-4E4C-A25A-7E52C759FC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82DE2C4-EC6C-4CC8-A8E0-0961306533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A66506BB-0716-4E34-AB30-0A9F59D62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42B8F-29FB-40FC-8478-EFAB2A2B7B8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4E7775-1037-4552-B402-0A56E85EEF4A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ooter Placeholder 10">
            <a:extLst>
              <a:ext uri="{FF2B5EF4-FFF2-40B4-BE49-F238E27FC236}">
                <a16:creationId xmlns:a16="http://schemas.microsoft.com/office/drawing/2014/main" id="{9DC4898F-D35A-4AB0-827D-5C13E453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55D79-8A20-7D48-B9A5-13D94A27B088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10D67F-F160-2C48-B8BA-777990BBCE7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9319F3-EF05-0447-ACBA-047CD85755A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55EDD27-DD33-734A-813F-F30CF0A2557B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69BC330-F4A3-464C-9ADB-77AE238FEC51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095533F-80E0-A647-9DD5-A03D6D65CAE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52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Pine">
    <p:bg>
      <p:bgPr>
        <a:solidFill>
          <a:srgbClr val="1C6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D978A3C-C378-42CB-93DD-CF42E8327268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6261E6-6555-4DF8-87DB-88B7F92D7C71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EEF0C6-50AB-4F14-9298-43988E1B94EC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ACFFD0-9F46-49D2-A642-5A31E2F0B292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B457352-4292-4827-8067-7795621350A3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F2E071-A719-41E1-A8A4-0FFBC981E24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86EE48-ECAD-4C11-9F02-82F9EA7C2A0C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C1B5E29-685E-4C1F-9590-815CBA348DBE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ED7CF872-DA1B-4180-9987-CF46F16AB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6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Iris">
    <p:bg>
      <p:bgPr>
        <a:solidFill>
          <a:srgbClr val="4E43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6241" y="457200"/>
            <a:ext cx="11273866" cy="57878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1878E37C-3C29-44E8-B49D-D2652F4B7D3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618EA69F-F932-45A1-AAC9-A35448638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B172FB41-6BDA-443B-9F1F-EBAC0E0C67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695CFDED-0DF1-47F8-8C6E-7EA227831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12B3B080-DD61-4C84-B31B-15398FE21F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5040EC-0EE6-4E5D-A5D9-618910B33D16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19815-3AF8-40BA-A825-ECB2B3C0CB15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572310-3FD0-4A5F-9AC5-75DE72D65BA9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8B28CA-4B48-4B39-83DF-A9BC1C4E1880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45B91F-0D3D-44FD-BFF0-ECB9685034BF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0FF805F-AA4E-462C-9060-29BC27A72E10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940A0E0-F685-498B-947E-A03BD037507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0C98E5D-34B2-468D-B7D5-ED0B0AE7D81D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7" name="Footer Placeholder 10">
            <a:extLst>
              <a:ext uri="{FF2B5EF4-FFF2-40B4-BE49-F238E27FC236}">
                <a16:creationId xmlns:a16="http://schemas.microsoft.com/office/drawing/2014/main" id="{C1156D6D-110F-4A8F-9FA1-B39441F88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0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24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2258385A-D118-4C6D-B15D-047902FEB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67DB76F-CCB3-47C1-AF42-0D03EA13B15C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EF541F-1C82-499B-934A-42273E9FFE20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75EE97-4C4C-40C1-B0B3-25B91D782513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1E0249-55B1-4F50-B6F3-1D4CB83B755C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7E13632-A940-427F-8045-D15DB2E91222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322C50-445E-40A7-8A05-AD852D1DC56B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7016F8-C5EE-4244-B985-DE10D2A3253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826659-0D85-4522-876F-5B35D499F0F6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1EB56CC3-93B6-4BEB-9E54-9E5281DC1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89682"/>
            <a:ext cx="6098736" cy="6768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89682"/>
            <a:ext cx="6098736" cy="6768318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 dirty="0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6F043C-92B1-4F33-A948-6B9D078B26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9503" y="6431001"/>
            <a:ext cx="245678" cy="2452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88866E84-0A57-4668-B531-68C5A5DCE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6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91440"/>
            <a:ext cx="6098736" cy="6766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 dirty="0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2"/>
            <a:ext cx="5164134" cy="44270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A85233-40AD-4D6F-9365-29FEF80CE271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E7F9A77-4CA7-4E17-899F-26DDA3DCAE26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8A5F5D-6B10-49A0-B728-102DF6802D7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6778C5F-7A8E-4BDF-96CE-CCEDB03D72D2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DCD4965-B542-43C1-B191-3CADE067FD1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B607E6-DB93-41EF-851F-EDFE50E56E0F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D42932E-7A67-4369-B8BD-2F3B4FFE6E9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D0CEDF-2327-4D21-9626-EA64C1D6F841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97316C92-AC84-494D-9E23-16873326D9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720ECF2C-9E27-4F25-919C-9D1327729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7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91440"/>
            <a:ext cx="6096000" cy="6766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943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EE3737-0E07-468B-930B-751982F98482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C488A-D654-4C07-AA57-BD13BC912E3C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08DF53-BB9D-4DA0-8518-FB965BC3C3C4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7C59B6-E0B7-4A56-BC48-26DFD539BBC8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350D41-22BD-45CD-BDEB-3AFF366808D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ABA54-2AA5-4679-8D59-6CA1334612DC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F31F58-6B5C-4269-AFA1-436102C3D117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FC7973-5A91-48F4-8CB9-5E5D9762E03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30" name="Graphic 29">
            <a:extLst>
              <a:ext uri="{FF2B5EF4-FFF2-40B4-BE49-F238E27FC236}">
                <a16:creationId xmlns:a16="http://schemas.microsoft.com/office/drawing/2014/main" id="{BF2218F0-D93F-4904-B0F2-AADFD3911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9503" y="6431000"/>
            <a:ext cx="250273" cy="250273"/>
          </a:xfrm>
          <a:prstGeom prst="rect">
            <a:avLst/>
          </a:prstGeom>
        </p:spPr>
      </p:pic>
      <p:sp>
        <p:nvSpPr>
          <p:cNvPr id="15" name="Footer Placeholder 10">
            <a:extLst>
              <a:ext uri="{FF2B5EF4-FFF2-40B4-BE49-F238E27FC236}">
                <a16:creationId xmlns:a16="http://schemas.microsoft.com/office/drawing/2014/main" id="{3EFFD462-0D5B-4804-ABA3-5F8AD08EE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0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030817" y="88549"/>
            <a:ext cx="4161183" cy="67694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8D0A2A5B-D1E7-45BE-AE60-A6F36936B1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89503" y="6431001"/>
            <a:ext cx="245297" cy="245297"/>
            <a:chOff x="5266" y="0"/>
            <a:chExt cx="733" cy="733"/>
          </a:xfrm>
          <a:solidFill>
            <a:schemeClr val="bg1"/>
          </a:solidFill>
        </p:grpSpPr>
        <p:sp>
          <p:nvSpPr>
            <p:cNvPr id="10" name="Freeform 24">
              <a:extLst>
                <a:ext uri="{FF2B5EF4-FFF2-40B4-BE49-F238E27FC236}">
                  <a16:creationId xmlns:a16="http://schemas.microsoft.com/office/drawing/2014/main" id="{9183C3AE-028B-4DDA-9205-EC6D655EEA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F505AD9A-ACA3-4F80-AFE2-84AD08C01D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2" name="Freeform 26">
              <a:extLst>
                <a:ext uri="{FF2B5EF4-FFF2-40B4-BE49-F238E27FC236}">
                  <a16:creationId xmlns:a16="http://schemas.microsoft.com/office/drawing/2014/main" id="{B03D2BBB-45A1-4D25-ABE8-7FC9374EA0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C66F7432-E150-4495-9A00-2F1C2AC721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Arial Narrow"/>
                <a:ea typeface="+mn-ea"/>
                <a:cs typeface="+mn-cs"/>
              </a:endParaRPr>
            </a:p>
          </p:txBody>
        </p:sp>
      </p:grp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14E68320-68D4-4D4A-B0BF-87FB8DFCD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74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88900"/>
            <a:ext cx="4060953" cy="676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7E9E6-657D-44F6-B7B3-62E0DAE48F9F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CCB35-B199-4CD6-9364-CF60DE40A9B6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110C2C1-9BAC-48C6-872D-0DBFE4DB2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3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3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: Car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2">
            <a:extLst>
              <a:ext uri="{FF2B5EF4-FFF2-40B4-BE49-F238E27FC236}">
                <a16:creationId xmlns:a16="http://schemas.microsoft.com/office/drawing/2014/main" id="{B49D0D91-C17F-4B05-8E43-82015C7BB70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04A93985-0D67-451D-B3A3-FF1DFA20A8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51F8F0B5-AE5E-4F6A-A5A9-1380A0E147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5">
              <a:extLst>
                <a:ext uri="{FF2B5EF4-FFF2-40B4-BE49-F238E27FC236}">
                  <a16:creationId xmlns:a16="http://schemas.microsoft.com/office/drawing/2014/main" id="{0588F478-4A92-494A-9C3A-F0E7B3557D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1C181752-AA5D-48E5-B1BF-DFEB698DA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7C566761-B5D4-457C-92C2-7F809697D4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ABD1FB-3172-4AEA-B5C2-F2546E6F6B28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CBB2FC-BAF9-48F6-95FA-B797183FB68E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72C188-6A30-4B83-B29A-98E2F5808F8B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E38204-8452-4E27-BEDC-A657E1DE8021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DF6AC7-9388-407D-89DE-B14FFE84A8B6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F5B398-B67A-43A9-8C2A-54443FBEF893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54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: Deep Lake">
    <p:bg>
      <p:bgPr>
        <a:solidFill>
          <a:srgbClr val="00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2">
            <a:extLst>
              <a:ext uri="{FF2B5EF4-FFF2-40B4-BE49-F238E27FC236}">
                <a16:creationId xmlns:a16="http://schemas.microsoft.com/office/drawing/2014/main" id="{28E4689E-066C-40CE-964D-BA4EBB3542C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B9AF8A63-6FFF-4C2F-883E-76FDE7D496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0B34BBF5-94F1-4633-93DF-D1C74D7E8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3502C15E-FAB7-48E2-B3CD-297CE138C9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4D5AA12F-9D7D-47DC-9513-EA313EC1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541BFC0-E8B2-4E33-88AA-2D833170CAA9}"/>
              </a:ext>
            </a:extLst>
          </p:cNvPr>
          <p:cNvGrpSpPr/>
          <p:nvPr userDrawn="1"/>
        </p:nvGrpSpPr>
        <p:grpSpPr>
          <a:xfrm>
            <a:off x="0" y="6766560"/>
            <a:ext cx="12192000" cy="91440"/>
            <a:chOff x="0" y="6766560"/>
            <a:chExt cx="12192000" cy="9144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EF9B02-DDF4-49EF-88E9-E28D0A4C427C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F81F288-588D-49FF-9E29-11B25708FA8E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7796B5-ACD4-4793-A3DC-DEA5D0DD5F0E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50AF70-1F35-43EF-BDCA-366F8DF37230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687566-3430-40E2-9F85-D35FB4E2A2D0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303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8F7B00-A1EE-4831-8F60-6471A75DD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CD5B21-36C5-4BA8-BCC4-6D11C54DE22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" y="1256758"/>
            <a:ext cx="11274552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spc="50" baseline="0">
                <a:solidFill>
                  <a:srgbClr val="7D7D7D"/>
                </a:solidFill>
                <a:latin typeface="Arial Narrow" panose="020B0606020202030204" pitchFamily="34" charset="0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E923-DFD9-46A1-8A42-C1E97C487F9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4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59AE6-F723-384D-C933-17B368E0F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588C-C337-A8B6-D3BA-D1005EA9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DF393-5440-95C3-8288-798B387D2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15FF1-ED7F-BC42-A69E-D52BE651A642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3138-109F-8EB2-4F0F-EC9C35378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9CF4B-8195-9D1C-855F-4D363892D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B0CBA-F2BE-1349-A824-6464AA140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2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A8562-B6C4-4F72-9A77-9CE22CA5E603}"/>
              </a:ext>
            </a:extLst>
          </p:cNvPr>
          <p:cNvSpPr txBox="1"/>
          <p:nvPr userDrawn="1"/>
        </p:nvSpPr>
        <p:spPr>
          <a:xfrm>
            <a:off x="681343" y="6501327"/>
            <a:ext cx="730016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©</a:t>
            </a:r>
            <a:r>
              <a:rPr lang="en-US" sz="750" kern="100" cap="all" spc="2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2024 F5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C7C42-B2DD-4FEE-B3DC-79EBB56C4AAB}"/>
              </a:ext>
            </a:extLst>
          </p:cNvPr>
          <p:cNvSpPr txBox="1"/>
          <p:nvPr userDrawn="1"/>
        </p:nvSpPr>
        <p:spPr>
          <a:xfrm>
            <a:off x="6805" y="6501327"/>
            <a:ext cx="567398" cy="98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1" kern="100" cap="all" spc="50" smtClean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1" kern="100" cap="all" spc="5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E6AABD-6768-4E29-97E7-A4E42A7DD76C}"/>
              </a:ext>
            </a:extLst>
          </p:cNvPr>
          <p:cNvGrpSpPr/>
          <p:nvPr userDrawn="1"/>
        </p:nvGrpSpPr>
        <p:grpSpPr>
          <a:xfrm>
            <a:off x="0" y="0"/>
            <a:ext cx="12192000" cy="91440"/>
            <a:chOff x="0" y="6766560"/>
            <a:chExt cx="12192000" cy="914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D15244-30C2-4F87-878E-ABBECA3DC5BF}"/>
                </a:ext>
              </a:extLst>
            </p:cNvPr>
            <p:cNvSpPr/>
            <p:nvPr/>
          </p:nvSpPr>
          <p:spPr>
            <a:xfrm>
              <a:off x="0" y="6766560"/>
              <a:ext cx="5050302" cy="91440"/>
            </a:xfrm>
            <a:prstGeom prst="rect">
              <a:avLst/>
            </a:prstGeom>
            <a:solidFill>
              <a:srgbClr val="F5C3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2CBB79-3E25-4805-BA35-71C18D8C1807}"/>
                </a:ext>
              </a:extLst>
            </p:cNvPr>
            <p:cNvSpPr/>
            <p:nvPr userDrawn="1"/>
          </p:nvSpPr>
          <p:spPr>
            <a:xfrm>
              <a:off x="4889500" y="6766560"/>
              <a:ext cx="1157261" cy="91440"/>
            </a:xfrm>
            <a:prstGeom prst="rect">
              <a:avLst/>
            </a:prstGeom>
            <a:solidFill>
              <a:srgbClr val="E400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128E2A-103D-410E-AF80-5226B34FAC05}"/>
                </a:ext>
              </a:extLst>
            </p:cNvPr>
            <p:cNvSpPr/>
            <p:nvPr/>
          </p:nvSpPr>
          <p:spPr>
            <a:xfrm>
              <a:off x="5954712" y="6766560"/>
              <a:ext cx="2260819" cy="91440"/>
            </a:xfrm>
            <a:prstGeom prst="rect">
              <a:avLst/>
            </a:prstGeom>
            <a:solidFill>
              <a:srgbClr val="F37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75072D-6FCA-46E0-A146-5B484B5DDC31}"/>
                </a:ext>
              </a:extLst>
            </p:cNvPr>
            <p:cNvSpPr/>
            <p:nvPr/>
          </p:nvSpPr>
          <p:spPr>
            <a:xfrm>
              <a:off x="8032750" y="6766560"/>
              <a:ext cx="2178050" cy="91440"/>
            </a:xfrm>
            <a:prstGeom prst="rect">
              <a:avLst/>
            </a:prstGeom>
            <a:solidFill>
              <a:srgbClr val="1D9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F95FA1-F9F1-463D-98DC-E760DEB4ECDB}"/>
                </a:ext>
              </a:extLst>
            </p:cNvPr>
            <p:cNvSpPr/>
            <p:nvPr/>
          </p:nvSpPr>
          <p:spPr>
            <a:xfrm>
              <a:off x="10113963" y="6766560"/>
              <a:ext cx="2078037" cy="91440"/>
            </a:xfrm>
            <a:prstGeom prst="rect">
              <a:avLst/>
            </a:prstGeom>
            <a:solidFill>
              <a:srgbClr val="0C5C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kern="1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8F3372F7-7243-4131-A7BF-D616085D6533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1489503" y="6431000"/>
            <a:ext cx="246888" cy="246888"/>
          </a:xfrm>
          <a:prstGeom prst="rect">
            <a:avLst/>
          </a:prstGeom>
        </p:spPr>
      </p:pic>
      <p:sp>
        <p:nvSpPr>
          <p:cNvPr id="16" name="Footer Placeholder 10">
            <a:extLst>
              <a:ext uri="{FF2B5EF4-FFF2-40B4-BE49-F238E27FC236}">
                <a16:creationId xmlns:a16="http://schemas.microsoft.com/office/drawing/2014/main" id="{B5FDD3E2-DB49-4FE9-8962-005CDC21E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029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1pPr>
      <a:lvl2pPr marL="400050" indent="-17145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2pPr>
      <a:lvl3pPr marL="62865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3pPr>
      <a:lvl4pPr marL="85725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6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BF68-1725-8CFD-07D6-271018B01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0D994-F7C0-5787-0B58-37D9AA0AE1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1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AC7D12-2145-064B-75E1-7316B9C7431E}"/>
              </a:ext>
            </a:extLst>
          </p:cNvPr>
          <p:cNvSpPr/>
          <p:nvPr/>
        </p:nvSpPr>
        <p:spPr>
          <a:xfrm>
            <a:off x="2305111" y="3321894"/>
            <a:ext cx="1761121" cy="590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Public 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afé</a:t>
            </a:r>
            <a:r>
              <a:rPr kumimoji="0" lang="en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.example.com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6FB71-2290-78E1-BB21-CEE53617FDD6}"/>
              </a:ext>
            </a:extLst>
          </p:cNvPr>
          <p:cNvSpPr/>
          <p:nvPr/>
        </p:nvSpPr>
        <p:spPr>
          <a:xfrm>
            <a:off x="5235142" y="2307326"/>
            <a:ext cx="1761121" cy="59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ginx-gateway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639F1-EFAD-7247-0D6A-96F2F64D22F6}"/>
              </a:ext>
            </a:extLst>
          </p:cNvPr>
          <p:cNvSpPr/>
          <p:nvPr/>
        </p:nvSpPr>
        <p:spPr>
          <a:xfrm>
            <a:off x="9476838" y="2307326"/>
            <a:ext cx="1761121" cy="590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</a:t>
            </a: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offee</a:t>
            </a:r>
            <a:endParaRPr kumimoji="0" lang="en-KR" sz="1800" b="1" i="0" u="none" strike="noStrike" kern="1200" cap="none" spc="0" normalizeH="0" baseline="0" noProof="0" dirty="0">
              <a:ln>
                <a:noFill/>
              </a:ln>
              <a:solidFill>
                <a:srgbClr val="E4002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96DD23-0196-4E5D-E498-2F5B182A66E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996263" y="2602349"/>
            <a:ext cx="2480575" cy="0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9661995-8525-1C09-48EE-1D87B4570086}"/>
              </a:ext>
            </a:extLst>
          </p:cNvPr>
          <p:cNvCxnSpPr>
            <a:cxnSpLocks/>
            <a:stCxn id="37" idx="3"/>
            <a:endCxn id="5" idx="2"/>
          </p:cNvCxnSpPr>
          <p:nvPr/>
        </p:nvCxnSpPr>
        <p:spPr>
          <a:xfrm flipH="1" flipV="1">
            <a:off x="6115703" y="2897371"/>
            <a:ext cx="201273" cy="719546"/>
          </a:xfrm>
          <a:prstGeom prst="bentConnector4">
            <a:avLst>
              <a:gd name="adj1" fmla="val -113577"/>
              <a:gd name="adj2" fmla="val 70501"/>
            </a:avLst>
          </a:prstGeom>
          <a:ln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D7DAFC-217C-3870-BFED-8FDED0BCCF9D}"/>
              </a:ext>
            </a:extLst>
          </p:cNvPr>
          <p:cNvSpPr txBox="1"/>
          <p:nvPr/>
        </p:nvSpPr>
        <p:spPr>
          <a:xfrm>
            <a:off x="2553780" y="1188463"/>
            <a:ext cx="1287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Infra Providers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2E4DE-A6B2-AB8D-61AE-678EA0C11952}"/>
              </a:ext>
            </a:extLst>
          </p:cNvPr>
          <p:cNvSpPr txBox="1"/>
          <p:nvPr/>
        </p:nvSpPr>
        <p:spPr>
          <a:xfrm>
            <a:off x="6224162" y="3570623"/>
            <a:ext cx="43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3E34BB-C23A-E00C-F877-29116B0C21B9}"/>
              </a:ext>
            </a:extLst>
          </p:cNvPr>
          <p:cNvSpPr txBox="1"/>
          <p:nvPr/>
        </p:nvSpPr>
        <p:spPr>
          <a:xfrm>
            <a:off x="6065484" y="2823830"/>
            <a:ext cx="437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70E7D0-3A09-1305-1B9F-1C57AA2449F0}"/>
              </a:ext>
            </a:extLst>
          </p:cNvPr>
          <p:cNvSpPr/>
          <p:nvPr/>
        </p:nvSpPr>
        <p:spPr>
          <a:xfrm>
            <a:off x="4503962" y="718439"/>
            <a:ext cx="7227790" cy="52174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1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0A5E-42F9-23C4-055E-901955164A52}"/>
              </a:ext>
            </a:extLst>
          </p:cNvPr>
          <p:cNvSpPr txBox="1"/>
          <p:nvPr/>
        </p:nvSpPr>
        <p:spPr>
          <a:xfrm>
            <a:off x="7315200" y="718439"/>
            <a:ext cx="1737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K8s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Cluster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F17FA-A159-E757-F7A1-E93794CAED43}"/>
              </a:ext>
            </a:extLst>
          </p:cNvPr>
          <p:cNvSpPr/>
          <p:nvPr/>
        </p:nvSpPr>
        <p:spPr>
          <a:xfrm>
            <a:off x="9476838" y="3069503"/>
            <a:ext cx="1761121" cy="5900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tea</a:t>
            </a:r>
            <a:endParaRPr kumimoji="0" lang="en-KR" sz="1800" b="1" i="0" u="none" strike="noStrike" kern="1200" cap="none" spc="0" normalizeH="0" baseline="0" noProof="0" dirty="0">
              <a:ln>
                <a:noFill/>
              </a:ln>
              <a:solidFill>
                <a:srgbClr val="E4002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5E290F-B2D4-AEFA-CBEC-D4CA20ADFD1C}"/>
              </a:ext>
            </a:extLst>
          </p:cNvPr>
          <p:cNvSpPr/>
          <p:nvPr/>
        </p:nvSpPr>
        <p:spPr>
          <a:xfrm>
            <a:off x="388022" y="3321894"/>
            <a:ext cx="880561" cy="590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Clients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DD2380-7E6E-A15D-9CC8-3BD74D70C442}"/>
              </a:ext>
            </a:extLst>
          </p:cNvPr>
          <p:cNvCxnSpPr>
            <a:cxnSpLocks/>
            <a:stCxn id="4" idx="1"/>
            <a:endCxn id="30" idx="3"/>
          </p:cNvCxnSpPr>
          <p:nvPr/>
        </p:nvCxnSpPr>
        <p:spPr>
          <a:xfrm flipH="1">
            <a:off x="1268583" y="3616917"/>
            <a:ext cx="1036528" cy="0"/>
          </a:xfrm>
          <a:prstGeom prst="line">
            <a:avLst/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121EC6B-2454-7E6B-7342-83AAFC16476F}"/>
              </a:ext>
            </a:extLst>
          </p:cNvPr>
          <p:cNvSpPr/>
          <p:nvPr/>
        </p:nvSpPr>
        <p:spPr>
          <a:xfrm>
            <a:off x="4555855" y="3321894"/>
            <a:ext cx="1761121" cy="5900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Gateway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E3D040-1C6F-6275-F198-C7FA40BA0FCB}"/>
              </a:ext>
            </a:extLst>
          </p:cNvPr>
          <p:cNvSpPr txBox="1"/>
          <p:nvPr/>
        </p:nvSpPr>
        <p:spPr>
          <a:xfrm>
            <a:off x="9622701" y="4741063"/>
            <a:ext cx="17611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App Developer/Owner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12EB-2075-18D2-0963-DB5CE0E2F84A}"/>
              </a:ext>
            </a:extLst>
          </p:cNvPr>
          <p:cNvSpPr txBox="1"/>
          <p:nvPr/>
        </p:nvSpPr>
        <p:spPr>
          <a:xfrm>
            <a:off x="4765898" y="4848784"/>
            <a:ext cx="17373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Cluster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Operator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16B9865-26FC-B9CF-C59B-C09A34448FEE}"/>
              </a:ext>
            </a:extLst>
          </p:cNvPr>
          <p:cNvCxnSpPr>
            <a:cxnSpLocks/>
            <a:stCxn id="37" idx="0"/>
            <a:endCxn id="49" idx="2"/>
          </p:cNvCxnSpPr>
          <p:nvPr/>
        </p:nvCxnSpPr>
        <p:spPr>
          <a:xfrm rot="16200000" flipV="1">
            <a:off x="3852684" y="1738161"/>
            <a:ext cx="1220858" cy="19466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0085D5E-F715-B0DD-6E28-1677238686DD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3850635" y="1937387"/>
            <a:ext cx="719545" cy="2049470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D3081BC-E7E8-1821-BF37-7A5255337C96}"/>
              </a:ext>
            </a:extLst>
          </p:cNvPr>
          <p:cNvSpPr/>
          <p:nvPr/>
        </p:nvSpPr>
        <p:spPr>
          <a:xfrm>
            <a:off x="2609248" y="1510991"/>
            <a:ext cx="1761121" cy="590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Gateway Class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20140F-6F89-750C-63DA-BFBFB445B3AF}"/>
              </a:ext>
            </a:extLst>
          </p:cNvPr>
          <p:cNvSpPr txBox="1"/>
          <p:nvPr/>
        </p:nvSpPr>
        <p:spPr>
          <a:xfrm>
            <a:off x="7835011" y="2452022"/>
            <a:ext cx="8977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/coffee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77B9184-51A2-188F-31E8-B09CF6682449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6996263" y="2602349"/>
            <a:ext cx="2480575" cy="762177"/>
          </a:xfrm>
          <a:prstGeom prst="line">
            <a:avLst/>
          </a:prstGeom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1B0955C7-B152-1E2A-C667-2B22EEFAA340}"/>
              </a:ext>
            </a:extLst>
          </p:cNvPr>
          <p:cNvSpPr txBox="1"/>
          <p:nvPr/>
        </p:nvSpPr>
        <p:spPr>
          <a:xfrm>
            <a:off x="7835011" y="2823830"/>
            <a:ext cx="8977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맑은 고딕" panose="020B0503020000020004" pitchFamily="34" charset="-127"/>
                <a:cs typeface="+mn-cs"/>
              </a:rPr>
              <a:t>/tea</a:t>
            </a:r>
            <a:endParaRPr kumimoji="0" lang="en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DA2CA6-B055-5617-7E30-29125C81ED27}"/>
              </a:ext>
            </a:extLst>
          </p:cNvPr>
          <p:cNvSpPr txBox="1"/>
          <p:nvPr/>
        </p:nvSpPr>
        <p:spPr>
          <a:xfrm>
            <a:off x="903767" y="6507126"/>
            <a:ext cx="0" cy="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algn="l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endParaRPr lang="en-US" sz="1600" kern="1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783AAB-607A-BBAE-4BF9-18F12463D893}"/>
              </a:ext>
            </a:extLst>
          </p:cNvPr>
          <p:cNvSpPr txBox="1"/>
          <p:nvPr/>
        </p:nvSpPr>
        <p:spPr>
          <a:xfrm>
            <a:off x="388022" y="6347637"/>
            <a:ext cx="1047373" cy="510363"/>
          </a:xfrm>
          <a:prstGeom prst="rect">
            <a:avLst/>
          </a:prstGeom>
          <a:solidFill>
            <a:schemeClr val="bg1"/>
          </a:solidFill>
        </p:spPr>
        <p:txBody>
          <a:bodyPr wrap="square" lIns="0" tIns="45720" rIns="0" bIns="0" rtlCol="0">
            <a:noAutofit/>
          </a:bodyPr>
          <a:lstStyle/>
          <a:p>
            <a:pPr algn="l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</a:pPr>
            <a:endParaRPr lang="en-US" sz="1600" kern="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399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53345-49EA-9CFF-3BB1-2703BAA4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07070151-0FA6-66BA-441E-A3C4D9F48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-145772"/>
            <a:ext cx="5849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A28F62B-4604-0308-69F7-89AB3C51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513" y="318291"/>
            <a:ext cx="1937317" cy="150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BDFC043-61DB-1ED4-7096-24396F848C50}"/>
              </a:ext>
            </a:extLst>
          </p:cNvPr>
          <p:cNvGrpSpPr/>
          <p:nvPr/>
        </p:nvGrpSpPr>
        <p:grpSpPr>
          <a:xfrm>
            <a:off x="8892194" y="2685130"/>
            <a:ext cx="1003173" cy="986971"/>
            <a:chOff x="8892194" y="2738138"/>
            <a:chExt cx="1003173" cy="9869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3A509-9B7D-B217-2B5C-16267DAF293A}"/>
                </a:ext>
              </a:extLst>
            </p:cNvPr>
            <p:cNvSpPr/>
            <p:nvPr/>
          </p:nvSpPr>
          <p:spPr>
            <a:xfrm>
              <a:off x="8892194" y="2738138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8DA59820-0900-15E6-ACE9-4EFAF8934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2782012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15DC16-4B4C-EF80-3C99-53F125C56B77}"/>
              </a:ext>
            </a:extLst>
          </p:cNvPr>
          <p:cNvGrpSpPr/>
          <p:nvPr/>
        </p:nvGrpSpPr>
        <p:grpSpPr>
          <a:xfrm>
            <a:off x="8892194" y="4652297"/>
            <a:ext cx="1003173" cy="986971"/>
            <a:chOff x="8892194" y="4798069"/>
            <a:chExt cx="1003173" cy="9869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E3843A-743B-37E8-2E55-109B3AF5E35E}"/>
                </a:ext>
              </a:extLst>
            </p:cNvPr>
            <p:cNvSpPr/>
            <p:nvPr/>
          </p:nvSpPr>
          <p:spPr>
            <a:xfrm>
              <a:off x="8892194" y="4798069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10F24324-F43A-953F-8250-1F20349082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4841943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39BBA9-6917-F4FC-77A3-E8B94E4900B3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82814" y="1091706"/>
            <a:ext cx="0" cy="51235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B38AC1-DD2A-3DDF-EF86-5630929481CA}"/>
              </a:ext>
            </a:extLst>
          </p:cNvPr>
          <p:cNvSpPr/>
          <p:nvPr/>
        </p:nvSpPr>
        <p:spPr>
          <a:xfrm>
            <a:off x="508516" y="2787132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7104A8-1645-F142-9C81-1D18001E59ED}"/>
              </a:ext>
            </a:extLst>
          </p:cNvPr>
          <p:cNvGrpSpPr/>
          <p:nvPr/>
        </p:nvGrpSpPr>
        <p:grpSpPr>
          <a:xfrm>
            <a:off x="327306" y="594002"/>
            <a:ext cx="511015" cy="497704"/>
            <a:chOff x="2158744" y="2722043"/>
            <a:chExt cx="669480" cy="588441"/>
          </a:xfrm>
        </p:grpSpPr>
        <p:pic>
          <p:nvPicPr>
            <p:cNvPr id="12" name="Picture 1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E05499CC-4A4A-BC9B-876F-EC336AB77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8907" y="2801687"/>
              <a:ext cx="429155" cy="42915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9AB39F1-8449-0A9A-DF73-B631F90F43EE}"/>
                </a:ext>
              </a:extLst>
            </p:cNvPr>
            <p:cNvSpPr/>
            <p:nvPr/>
          </p:nvSpPr>
          <p:spPr>
            <a:xfrm>
              <a:off x="2158744" y="2722043"/>
              <a:ext cx="669480" cy="5884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C418D7E2-4D94-9D26-4D3C-2E365223F021}"/>
              </a:ext>
            </a:extLst>
          </p:cNvPr>
          <p:cNvSpPr/>
          <p:nvPr/>
        </p:nvSpPr>
        <p:spPr>
          <a:xfrm>
            <a:off x="508516" y="1843877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4FF97D-B599-8DF0-FEFE-D937083FBA60}"/>
              </a:ext>
            </a:extLst>
          </p:cNvPr>
          <p:cNvSpPr/>
          <p:nvPr/>
        </p:nvSpPr>
        <p:spPr>
          <a:xfrm>
            <a:off x="510444" y="367607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6B4AC2E-11F9-5279-5B22-96266675C814}"/>
              </a:ext>
            </a:extLst>
          </p:cNvPr>
          <p:cNvSpPr txBox="1">
            <a:spLocks/>
          </p:cNvSpPr>
          <p:nvPr/>
        </p:nvSpPr>
        <p:spPr bwMode="gray">
          <a:xfrm>
            <a:off x="781747" y="2707823"/>
            <a:ext cx="5133409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lang="en-US" sz="1400" b="1" dirty="0">
                <a:solidFill>
                  <a:srgbClr val="E4002B"/>
                </a:solidFill>
                <a:latin typeface="Comic Sans MS" panose="030F0902030302020204" pitchFamily="66" charset="0"/>
              </a:rPr>
              <a:t>café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E4002B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1st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FA8B8EB4-E178-54E4-3D66-ADCE7415E2D0}"/>
              </a:ext>
            </a:extLst>
          </p:cNvPr>
          <p:cNvSpPr txBox="1">
            <a:spLocks/>
          </p:cNvSpPr>
          <p:nvPr/>
        </p:nvSpPr>
        <p:spPr bwMode="gray">
          <a:xfrm>
            <a:off x="781747" y="3622735"/>
            <a:ext cx="468982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HTTPRoutes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for coffee</a:t>
            </a:r>
            <a:r>
              <a:rPr kumimoji="0" lang="en-US" sz="1400" b="1" i="0" u="none" strike="noStrike" kern="100" cap="none" spc="-20" normalizeH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and tea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87BB1C6-F960-5B35-2C69-7066B788452C}"/>
              </a:ext>
            </a:extLst>
          </p:cNvPr>
          <p:cNvSpPr txBox="1">
            <a:spLocks/>
          </p:cNvSpPr>
          <p:nvPr/>
        </p:nvSpPr>
        <p:spPr bwMode="gray">
          <a:xfrm>
            <a:off x="740162" y="1838257"/>
            <a:ext cx="4689838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Installs NGF – CRDs and Only </a:t>
            </a:r>
            <a:r>
              <a:rPr kumimoji="0" lang="en-US" sz="1400" b="1" i="0" u="sng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Control Plane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20E84FA-B7A4-6289-6A9A-A0A803149CD7}"/>
              </a:ext>
            </a:extLst>
          </p:cNvPr>
          <p:cNvSpPr/>
          <p:nvPr/>
        </p:nvSpPr>
        <p:spPr>
          <a:xfrm>
            <a:off x="508516" y="136626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0F5F214-1427-4B41-D996-622E4F621E3B}"/>
              </a:ext>
            </a:extLst>
          </p:cNvPr>
          <p:cNvSpPr txBox="1">
            <a:spLocks/>
          </p:cNvSpPr>
          <p:nvPr/>
        </p:nvSpPr>
        <p:spPr bwMode="gray">
          <a:xfrm>
            <a:off x="740162" y="1277157"/>
            <a:ext cx="4733354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Infra Provider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C4C69E2B-5CFC-8A2E-EEE8-37CAAEBF0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87" y="2181019"/>
            <a:ext cx="368135" cy="37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6B99E11-AC56-0B90-2B80-FE4A931E1CD0}"/>
              </a:ext>
            </a:extLst>
          </p:cNvPr>
          <p:cNvGrpSpPr/>
          <p:nvPr/>
        </p:nvGrpSpPr>
        <p:grpSpPr>
          <a:xfrm>
            <a:off x="9895367" y="2820262"/>
            <a:ext cx="719624" cy="699441"/>
            <a:chOff x="9895367" y="2966034"/>
            <a:chExt cx="719624" cy="6994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A2F25AB-8BE0-7CC6-1A48-7BA84B567828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9895367" y="3178616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0599EB7B-E45A-C5B1-7558-6A7160EFFC65}"/>
                </a:ext>
              </a:extLst>
            </p:cNvPr>
            <p:cNvSpPr/>
            <p:nvPr/>
          </p:nvSpPr>
          <p:spPr>
            <a:xfrm>
              <a:off x="10497736" y="2966034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B84772-958D-5809-BA5A-960D2584A4A3}"/>
              </a:ext>
            </a:extLst>
          </p:cNvPr>
          <p:cNvGrpSpPr/>
          <p:nvPr/>
        </p:nvGrpSpPr>
        <p:grpSpPr>
          <a:xfrm>
            <a:off x="9895367" y="4746310"/>
            <a:ext cx="719624" cy="699441"/>
            <a:chOff x="9895367" y="4892082"/>
            <a:chExt cx="719624" cy="699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F5CEA1-E792-4EF2-67C7-61B08AC44F57}"/>
                </a:ext>
              </a:extLst>
            </p:cNvPr>
            <p:cNvCxnSpPr>
              <a:cxnSpLocks/>
            </p:cNvCxnSpPr>
            <p:nvPr/>
          </p:nvCxnSpPr>
          <p:spPr>
            <a:xfrm>
              <a:off x="9895367" y="5252581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7E66B752-36A8-F38E-678A-DBC2886B5930}"/>
                </a:ext>
              </a:extLst>
            </p:cNvPr>
            <p:cNvSpPr/>
            <p:nvPr/>
          </p:nvSpPr>
          <p:spPr>
            <a:xfrm>
              <a:off x="10497736" y="4892082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380968F-F77B-0ACB-BC71-574396D3294F}"/>
              </a:ext>
            </a:extLst>
          </p:cNvPr>
          <p:cNvGrpSpPr/>
          <p:nvPr/>
        </p:nvGrpSpPr>
        <p:grpSpPr>
          <a:xfrm>
            <a:off x="6609468" y="2936810"/>
            <a:ext cx="2282726" cy="466344"/>
            <a:chOff x="6609468" y="3082582"/>
            <a:chExt cx="2282726" cy="46634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DCFADAE-FA68-C238-30D7-88299BDA64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8" y="3082582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77F2751F-764E-6265-7C48-E9F2102715CB}"/>
                </a:ext>
              </a:extLst>
            </p:cNvPr>
            <p:cNvSpPr/>
            <p:nvPr/>
          </p:nvSpPr>
          <p:spPr>
            <a:xfrm>
              <a:off x="7100794" y="3253428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46" name="Picture 4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ECA7D46-1D7B-DF41-E265-0C2D7CC9D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226" y="793922"/>
            <a:ext cx="2005939" cy="1397724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D58BD6DA-C19B-E17B-4162-1CEF5170DB40}"/>
              </a:ext>
            </a:extLst>
          </p:cNvPr>
          <p:cNvSpPr/>
          <p:nvPr/>
        </p:nvSpPr>
        <p:spPr>
          <a:xfrm>
            <a:off x="488417" y="463740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30941976-BECE-38DF-87AD-38DADEE9AF98}"/>
              </a:ext>
            </a:extLst>
          </p:cNvPr>
          <p:cNvSpPr txBox="1">
            <a:spLocks/>
          </p:cNvSpPr>
          <p:nvPr/>
        </p:nvSpPr>
        <p:spPr bwMode="gray">
          <a:xfrm>
            <a:off x="768022" y="4463200"/>
            <a:ext cx="5317413" cy="5534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Teams have full control and update Proxy features on-demand</a:t>
            </a:r>
          </a:p>
          <a:p>
            <a:pPr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None/>
              <a:defRPr/>
            </a:pP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– Define app-specific NGINX proxy behavior (</a:t>
            </a:r>
            <a:r>
              <a:rPr lang="en-US" sz="1100" b="1" dirty="0" err="1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NginxProxy</a:t>
            </a: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 CRD)</a:t>
            </a:r>
            <a:endParaRPr kumimoji="0" lang="en-US" sz="1100" b="1" i="0" u="none" strike="noStrike" kern="100" cap="none" spc="-20" normalizeH="0" baseline="0" noProof="0" dirty="0">
              <a:ln>
                <a:noFill/>
              </a:ln>
              <a:solidFill>
                <a:srgbClr val="222222">
                  <a:lumMod val="75000"/>
                  <a:lumOff val="25000"/>
                </a:srgbClr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None/>
              <a:defRPr/>
            </a:pPr>
            <a:r>
              <a:rPr lang="en-US" sz="1100" b="1" dirty="0">
                <a:solidFill>
                  <a:srgbClr val="222222">
                    <a:lumMod val="75000"/>
                    <a:lumOff val="25000"/>
                  </a:srgbClr>
                </a:solidFill>
                <a:latin typeface="Comic Sans MS" panose="030F0902030302020204" pitchFamily="66" charset="0"/>
              </a:rPr>
              <a:t>–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Edit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 and attach to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OR Gateway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Scale Independently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13A8F6-DC4E-BA58-FAEA-D95AB5EFA75D}"/>
              </a:ext>
            </a:extLst>
          </p:cNvPr>
          <p:cNvSpPr txBox="1"/>
          <p:nvPr/>
        </p:nvSpPr>
        <p:spPr>
          <a:xfrm>
            <a:off x="8980967" y="6521257"/>
            <a:ext cx="914400" cy="91440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https://</a:t>
            </a:r>
            <a:r>
              <a:rPr kumimoji="0" 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docs.nginx.com</a:t>
            </a: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/nginx-gateway-fabric/how-to/</a:t>
            </a:r>
          </a:p>
        </p:txBody>
      </p:sp>
    </p:spTree>
    <p:extLst>
      <p:ext uri="{BB962C8B-B14F-4D97-AF65-F5344CB8AC3E}">
        <p14:creationId xmlns:p14="http://schemas.microsoft.com/office/powerpoint/2010/main" val="396443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8" grpId="0"/>
      <p:bldP spid="20" grpId="0"/>
      <p:bldP spid="22" grpId="0" animBg="1"/>
      <p:bldP spid="23" grpId="0"/>
      <p:bldP spid="48" grpId="0" animBg="1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A71-2DBE-9985-2C8B-A74D44AF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CEB8-F445-997B-ABA0-7501234A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2072B-31AF-3CD5-B733-13636312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13" y="96111"/>
            <a:ext cx="11274552" cy="466344"/>
          </a:xfrm>
        </p:spPr>
        <p:txBody>
          <a:bodyPr/>
          <a:lstStyle/>
          <a:p>
            <a:r>
              <a:rPr lang="en-US" dirty="0"/>
              <a:t>NGF 2.0.0+ (An example flow)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05D2242-3A52-DF14-DED7-D4BE86777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-145772"/>
            <a:ext cx="5849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4BDB12CA-4467-B1AE-3406-5D3CB0013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513" y="318291"/>
            <a:ext cx="1937317" cy="150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20FD89C-A131-DD87-D048-60BC241F8F04}"/>
              </a:ext>
            </a:extLst>
          </p:cNvPr>
          <p:cNvGrpSpPr/>
          <p:nvPr/>
        </p:nvGrpSpPr>
        <p:grpSpPr>
          <a:xfrm>
            <a:off x="8892194" y="2685130"/>
            <a:ext cx="1003173" cy="986971"/>
            <a:chOff x="8892194" y="2738138"/>
            <a:chExt cx="1003173" cy="9869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856CCFB-CD66-BF2C-84D5-8A8A520B0A0A}"/>
                </a:ext>
              </a:extLst>
            </p:cNvPr>
            <p:cNvSpPr/>
            <p:nvPr/>
          </p:nvSpPr>
          <p:spPr>
            <a:xfrm>
              <a:off x="8892194" y="2738138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2DF94BE2-402C-9D33-7608-ACD1D6E49E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2782012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4D0B2E-744A-DEBB-7764-65B65156C3AD}"/>
              </a:ext>
            </a:extLst>
          </p:cNvPr>
          <p:cNvGrpSpPr/>
          <p:nvPr/>
        </p:nvGrpSpPr>
        <p:grpSpPr>
          <a:xfrm>
            <a:off x="8892194" y="4652297"/>
            <a:ext cx="1003173" cy="986971"/>
            <a:chOff x="8892194" y="4798069"/>
            <a:chExt cx="1003173" cy="9869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B9E4B7-05CC-62B3-682A-BAA7AC54BE60}"/>
                </a:ext>
              </a:extLst>
            </p:cNvPr>
            <p:cNvSpPr/>
            <p:nvPr/>
          </p:nvSpPr>
          <p:spPr>
            <a:xfrm>
              <a:off x="8892194" y="4798069"/>
              <a:ext cx="1003173" cy="98697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" name="Picture 12">
              <a:extLst>
                <a:ext uri="{FF2B5EF4-FFF2-40B4-BE49-F238E27FC236}">
                  <a16:creationId xmlns:a16="http://schemas.microsoft.com/office/drawing/2014/main" id="{889AA0B2-DA2C-D501-154D-56D8BCD242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2613" y="4841943"/>
              <a:ext cx="861227" cy="899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DCBC41-01B2-E065-4EC0-2AF9A5FEB973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82814" y="1091706"/>
            <a:ext cx="0" cy="512356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1050AB5-9190-A302-A988-954543EE409E}"/>
              </a:ext>
            </a:extLst>
          </p:cNvPr>
          <p:cNvSpPr/>
          <p:nvPr/>
        </p:nvSpPr>
        <p:spPr>
          <a:xfrm>
            <a:off x="508516" y="2787132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4FBD74-78AC-9F7A-5EF8-4DF7BD51EDFE}"/>
              </a:ext>
            </a:extLst>
          </p:cNvPr>
          <p:cNvGrpSpPr/>
          <p:nvPr/>
        </p:nvGrpSpPr>
        <p:grpSpPr>
          <a:xfrm>
            <a:off x="327306" y="594002"/>
            <a:ext cx="511015" cy="497704"/>
            <a:chOff x="2158744" y="2722043"/>
            <a:chExt cx="669480" cy="588441"/>
          </a:xfrm>
        </p:grpSpPr>
        <p:pic>
          <p:nvPicPr>
            <p:cNvPr id="12" name="Picture 1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E481CA2-C36F-E0AF-6435-936FF64A8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8907" y="2801687"/>
              <a:ext cx="429155" cy="429155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63A0CF4-696E-7166-E2E7-8FE3F1CFAB6B}"/>
                </a:ext>
              </a:extLst>
            </p:cNvPr>
            <p:cNvSpPr/>
            <p:nvPr/>
          </p:nvSpPr>
          <p:spPr>
            <a:xfrm>
              <a:off x="2158744" y="2722043"/>
              <a:ext cx="669480" cy="5884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FBFEED06-5BAA-12C3-3A0D-1713F4CAC3CA}"/>
              </a:ext>
            </a:extLst>
          </p:cNvPr>
          <p:cNvSpPr/>
          <p:nvPr/>
        </p:nvSpPr>
        <p:spPr>
          <a:xfrm>
            <a:off x="508516" y="1843877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6B4ABF-3DFA-CD17-3B1C-8B548FB7BE2F}"/>
              </a:ext>
            </a:extLst>
          </p:cNvPr>
          <p:cNvSpPr/>
          <p:nvPr/>
        </p:nvSpPr>
        <p:spPr>
          <a:xfrm>
            <a:off x="510444" y="367607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FDDFAE-0A5F-EB15-B13A-882A44AD161A}"/>
              </a:ext>
            </a:extLst>
          </p:cNvPr>
          <p:cNvSpPr/>
          <p:nvPr/>
        </p:nvSpPr>
        <p:spPr>
          <a:xfrm>
            <a:off x="510443" y="4406078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C8CE32B-D4AA-DCA5-F4A5-DA69E0195757}"/>
              </a:ext>
            </a:extLst>
          </p:cNvPr>
          <p:cNvSpPr txBox="1">
            <a:spLocks/>
          </p:cNvSpPr>
          <p:nvPr/>
        </p:nvSpPr>
        <p:spPr bwMode="gray">
          <a:xfrm>
            <a:off x="781747" y="2707823"/>
            <a:ext cx="5133409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E4002B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Coffee Apps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1st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- Define app-specific NGINX proxy behavior (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8400961-D898-7703-4EDE-AFE95E8D003C}"/>
              </a:ext>
            </a:extLst>
          </p:cNvPr>
          <p:cNvSpPr txBox="1">
            <a:spLocks/>
          </p:cNvSpPr>
          <p:nvPr/>
        </p:nvSpPr>
        <p:spPr bwMode="gray">
          <a:xfrm>
            <a:off x="781747" y="3622735"/>
            <a:ext cx="468982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Coffee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70879D7A-B3DC-30AF-FF60-422FDEF074F5}"/>
              </a:ext>
            </a:extLst>
          </p:cNvPr>
          <p:cNvSpPr txBox="1">
            <a:spLocks/>
          </p:cNvSpPr>
          <p:nvPr/>
        </p:nvSpPr>
        <p:spPr bwMode="gray">
          <a:xfrm>
            <a:off x="793059" y="4326769"/>
            <a:ext cx="4678507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creates Gateway for 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009639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 Apps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Triggers </a:t>
            </a:r>
            <a:r>
              <a:rPr kumimoji="0" lang="en-US" sz="1100" b="1" i="0" u="sng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2nd Data Plane 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Deployment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- Define app-specific NGINX proxy behavior using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</a:t>
            </a:r>
            <a:endParaRPr kumimoji="0" lang="en-US" sz="11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9742C8-3DD9-0D3F-1E24-4274DE8D3788}"/>
              </a:ext>
            </a:extLst>
          </p:cNvPr>
          <p:cNvSpPr txBox="1">
            <a:spLocks/>
          </p:cNvSpPr>
          <p:nvPr/>
        </p:nvSpPr>
        <p:spPr bwMode="gray">
          <a:xfrm>
            <a:off x="740162" y="1838257"/>
            <a:ext cx="4689838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Cluster Ops Installs NGF – CRDs and Only </a:t>
            </a:r>
            <a:r>
              <a:rPr kumimoji="0" lang="en-US" sz="1400" b="1" i="0" u="sng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Control Plane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9162AB-D8C1-4921-9D31-94690D90CCF4}"/>
              </a:ext>
            </a:extLst>
          </p:cNvPr>
          <p:cNvSpPr/>
          <p:nvPr/>
        </p:nvSpPr>
        <p:spPr>
          <a:xfrm>
            <a:off x="508516" y="1366265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B3C2DF-0D36-ACD1-1E3D-CC2E8989A124}"/>
              </a:ext>
            </a:extLst>
          </p:cNvPr>
          <p:cNvSpPr txBox="1">
            <a:spLocks/>
          </p:cNvSpPr>
          <p:nvPr/>
        </p:nvSpPr>
        <p:spPr bwMode="gray">
          <a:xfrm>
            <a:off x="740162" y="1277157"/>
            <a:ext cx="4733354" cy="4052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Infra Provider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0E971E-A43F-1C8B-1E74-AC3B078C2BD6}"/>
              </a:ext>
            </a:extLst>
          </p:cNvPr>
          <p:cNvSpPr/>
          <p:nvPr/>
        </p:nvSpPr>
        <p:spPr>
          <a:xfrm>
            <a:off x="510443" y="5211063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DAFD078-1E46-4B52-A282-8BD4E2412FBC}"/>
              </a:ext>
            </a:extLst>
          </p:cNvPr>
          <p:cNvSpPr txBox="1">
            <a:spLocks/>
          </p:cNvSpPr>
          <p:nvPr/>
        </p:nvSpPr>
        <p:spPr bwMode="gray">
          <a:xfrm>
            <a:off x="793059" y="5131754"/>
            <a:ext cx="4678491" cy="3005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creates </a:t>
            </a:r>
            <a:r>
              <a:rPr kumimoji="0" lang="en-US" sz="14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Tea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AppDev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team decides to add Auth (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SnippetsFilter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HTTPRoute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EC792E7D-63E6-6967-146F-FF5B37BB6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87" y="2181019"/>
            <a:ext cx="368135" cy="37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B1CFFFEE-B566-1E34-B8BB-E856139AB502}"/>
              </a:ext>
            </a:extLst>
          </p:cNvPr>
          <p:cNvGrpSpPr/>
          <p:nvPr/>
        </p:nvGrpSpPr>
        <p:grpSpPr>
          <a:xfrm>
            <a:off x="9895367" y="2820262"/>
            <a:ext cx="719624" cy="699441"/>
            <a:chOff x="9895367" y="2966034"/>
            <a:chExt cx="719624" cy="69944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34E49B-E991-A576-1614-5A9F65596F15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9895367" y="3178616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39CA6FD1-AD7B-E9B3-A4E5-9006C1B152E3}"/>
                </a:ext>
              </a:extLst>
            </p:cNvPr>
            <p:cNvSpPr/>
            <p:nvPr/>
          </p:nvSpPr>
          <p:spPr>
            <a:xfrm>
              <a:off x="10497736" y="2966034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1AC43A-59E6-8780-5A58-3FB27DEF302C}"/>
              </a:ext>
            </a:extLst>
          </p:cNvPr>
          <p:cNvGrpSpPr/>
          <p:nvPr/>
        </p:nvGrpSpPr>
        <p:grpSpPr>
          <a:xfrm>
            <a:off x="9895367" y="4746310"/>
            <a:ext cx="719624" cy="699441"/>
            <a:chOff x="9895367" y="4892082"/>
            <a:chExt cx="719624" cy="6994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928A9E-243F-6106-6FF1-C476B2185332}"/>
                </a:ext>
              </a:extLst>
            </p:cNvPr>
            <p:cNvCxnSpPr>
              <a:cxnSpLocks/>
            </p:cNvCxnSpPr>
            <p:nvPr/>
          </p:nvCxnSpPr>
          <p:spPr>
            <a:xfrm>
              <a:off x="9895367" y="5252581"/>
              <a:ext cx="520842" cy="0"/>
            </a:xfrm>
            <a:prstGeom prst="line">
              <a:avLst/>
            </a:prstGeom>
            <a:ln w="28575">
              <a:solidFill>
                <a:srgbClr val="7030A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818BDF52-8035-C25B-ED90-6299417FE37E}"/>
                </a:ext>
              </a:extLst>
            </p:cNvPr>
            <p:cNvSpPr/>
            <p:nvPr/>
          </p:nvSpPr>
          <p:spPr>
            <a:xfrm>
              <a:off x="10497736" y="4892082"/>
              <a:ext cx="117255" cy="699441"/>
            </a:xfrm>
            <a:prstGeom prst="leftBrac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7D7ABDF-0C84-8A60-3803-4FC1F2B55426}"/>
              </a:ext>
            </a:extLst>
          </p:cNvPr>
          <p:cNvGrpSpPr/>
          <p:nvPr/>
        </p:nvGrpSpPr>
        <p:grpSpPr>
          <a:xfrm>
            <a:off x="6609468" y="2936810"/>
            <a:ext cx="2282726" cy="466344"/>
            <a:chOff x="6609468" y="3082582"/>
            <a:chExt cx="2282726" cy="46634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759D745-9323-816A-24EA-2583C88CB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8" y="3082582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F540DCE6-F497-24D6-F28A-C80B6EFA0C20}"/>
                </a:ext>
              </a:extLst>
            </p:cNvPr>
            <p:cNvSpPr/>
            <p:nvPr/>
          </p:nvSpPr>
          <p:spPr>
            <a:xfrm>
              <a:off x="7100794" y="3253428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461B83-EB8D-D067-9072-59FD3F7F2F37}"/>
              </a:ext>
            </a:extLst>
          </p:cNvPr>
          <p:cNvGrpSpPr/>
          <p:nvPr/>
        </p:nvGrpSpPr>
        <p:grpSpPr>
          <a:xfrm>
            <a:off x="6609467" y="4872001"/>
            <a:ext cx="2282727" cy="466344"/>
            <a:chOff x="6609467" y="5017773"/>
            <a:chExt cx="2282727" cy="466344"/>
          </a:xfrm>
        </p:grpSpPr>
        <p:pic>
          <p:nvPicPr>
            <p:cNvPr id="36" name="Picture 4">
              <a:extLst>
                <a:ext uri="{FF2B5EF4-FFF2-40B4-BE49-F238E27FC236}">
                  <a16:creationId xmlns:a16="http://schemas.microsoft.com/office/drawing/2014/main" id="{8CEE8508-A76A-2337-8605-A19EB1C3C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9467" y="5017773"/>
              <a:ext cx="491327" cy="466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7DAE04A0-1F83-AB11-2F9D-3EBC38789A91}"/>
                </a:ext>
              </a:extLst>
            </p:cNvPr>
            <p:cNvSpPr/>
            <p:nvPr/>
          </p:nvSpPr>
          <p:spPr>
            <a:xfrm>
              <a:off x="7100794" y="5188226"/>
              <a:ext cx="1791400" cy="14191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46" name="Picture 4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9CE22B4-A401-29C0-3273-3E390FBFFF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226" y="793922"/>
            <a:ext cx="2005939" cy="1397724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5879AB49-F905-1E6C-5870-9167D748F26B}"/>
              </a:ext>
            </a:extLst>
          </p:cNvPr>
          <p:cNvSpPr/>
          <p:nvPr/>
        </p:nvSpPr>
        <p:spPr>
          <a:xfrm>
            <a:off x="526708" y="5988444"/>
            <a:ext cx="141924" cy="14192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6F84ADF6-B87D-C1B6-3814-70A325C3F50A}"/>
              </a:ext>
            </a:extLst>
          </p:cNvPr>
          <p:cNvSpPr txBox="1">
            <a:spLocks/>
          </p:cNvSpPr>
          <p:nvPr/>
        </p:nvSpPr>
        <p:spPr bwMode="gray">
          <a:xfrm>
            <a:off x="806313" y="5814239"/>
            <a:ext cx="5317413" cy="5534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400"/>
              </a:spcBef>
              <a:buFont typeface="Arial" panose="020B0604020202020204" pitchFamily="34" charset="0"/>
              <a:buChar char="​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00" spc="-2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57200" indent="-228600" algn="l" defTabSz="914400" rtl="0" eaLnBrk="1" latinLnBrk="0" hangingPunct="1">
              <a:lnSpc>
                <a:spcPct val="95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−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400"/>
              </a:spcAft>
              <a:buFont typeface="Arial" panose="020B0604020202020204" pitchFamily="34" charset="0"/>
              <a:buChar char="​"/>
              <a:defRPr sz="2000" b="1" kern="100" cap="none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cap="all" spc="50" baseline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4290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−"/>
              <a:defRPr sz="1200" kern="1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Teams have full control and update Proxy features on-demand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Edit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NginxProxy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CRD and attach to </a:t>
            </a:r>
            <a:r>
              <a:rPr kumimoji="0" lang="en-US" sz="1100" b="1" i="0" u="none" strike="noStrike" kern="100" cap="none" spc="-20" normalizeH="0" baseline="0" noProof="0" dirty="0" err="1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Gatewayclass</a:t>
            </a: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 OR Gateway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00" cap="none" spc="-20" normalizeH="0" baseline="0" noProof="0" dirty="0">
                <a:ln>
                  <a:noFill/>
                </a:ln>
                <a:solidFill>
                  <a:srgbClr val="222222">
                    <a:lumMod val="75000"/>
                    <a:lumOff val="25000"/>
                  </a:srgbClr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– Scale Independently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00" cap="none" spc="-20" normalizeH="0" baseline="0" noProof="0" dirty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Comic Sans MS" panose="030F0902030302020204" pitchFamily="66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00" cap="none" spc="-20" normalizeH="0" baseline="0" noProof="0" dirty="0">
                <a:ln>
                  <a:noFill/>
                </a:ln>
                <a:solidFill>
                  <a:srgbClr val="4D4F53"/>
                </a:solidFill>
                <a:effectLst/>
                <a:uLnTx/>
                <a:uFillTx/>
                <a:latin typeface="Comic Sans MS" panose="030F0902030302020204" pitchFamily="66" charset="0"/>
                <a:ea typeface="+mn-ea"/>
                <a:cs typeface="Arial" panose="020B0604020202020204" pitchFamily="34" charset="0"/>
              </a:rPr>
              <a:t>		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86D244-6200-C18B-B322-7F5073D10750}"/>
              </a:ext>
            </a:extLst>
          </p:cNvPr>
          <p:cNvSpPr txBox="1"/>
          <p:nvPr/>
        </p:nvSpPr>
        <p:spPr>
          <a:xfrm>
            <a:off x="8980967" y="6521257"/>
            <a:ext cx="914400" cy="914400"/>
          </a:xfrm>
          <a:prstGeom prst="rect">
            <a:avLst/>
          </a:prstGeom>
          <a:noFill/>
        </p:spPr>
        <p:txBody>
          <a:bodyPr wrap="none" lIns="0" tIns="4572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https://</a:t>
            </a:r>
            <a:r>
              <a:rPr kumimoji="0" 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docs.nginx.com</a:t>
            </a:r>
            <a:r>
              <a:rPr kumimoji="0" 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33208C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+mn-ea"/>
                <a:cs typeface="+mn-cs"/>
              </a:rPr>
              <a:t>/nginx-gateway-fabric/how-to/</a:t>
            </a:r>
          </a:p>
        </p:txBody>
      </p:sp>
    </p:spTree>
    <p:extLst>
      <p:ext uri="{BB962C8B-B14F-4D97-AF65-F5344CB8AC3E}">
        <p14:creationId xmlns:p14="http://schemas.microsoft.com/office/powerpoint/2010/main" val="4207115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8" grpId="0"/>
      <p:bldP spid="19" grpId="0"/>
      <p:bldP spid="20" grpId="0"/>
      <p:bldP spid="22" grpId="0" animBg="1"/>
      <p:bldP spid="23" grpId="0"/>
      <p:bldP spid="25" grpId="0" animBg="1"/>
      <p:bldP spid="26" grpId="0"/>
      <p:bldP spid="48" grpId="0" animBg="1"/>
      <p:bldP spid="49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F5 Theme">
  <a:themeElements>
    <a:clrScheme name="Custom 6">
      <a:dk1>
        <a:srgbClr val="222222"/>
      </a:dk1>
      <a:lt1>
        <a:sysClr val="window" lastClr="FFFFFF"/>
      </a:lt1>
      <a:dk2>
        <a:srgbClr val="E6E6E6"/>
      </a:dk2>
      <a:lt2>
        <a:srgbClr val="E4002B"/>
      </a:lt2>
      <a:accent1>
        <a:srgbClr val="1D9CD3"/>
      </a:accent1>
      <a:accent2>
        <a:srgbClr val="009639"/>
      </a:accent2>
      <a:accent3>
        <a:srgbClr val="8B5BA5"/>
      </a:accent3>
      <a:accent4>
        <a:srgbClr val="0C5C8D"/>
      </a:accent4>
      <a:accent5>
        <a:srgbClr val="33208C"/>
      </a:accent5>
      <a:accent6>
        <a:srgbClr val="F29A36"/>
      </a:accent6>
      <a:hlink>
        <a:srgbClr val="E4002B"/>
      </a:hlink>
      <a:folHlink>
        <a:srgbClr val="DCDCDC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kern="100" dirty="0" err="1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45720" rIns="0" bIns="0" rtlCol="0">
        <a:noAutofit/>
      </a:bodyPr>
      <a:lstStyle>
        <a:defPPr algn="l">
          <a:lnSpc>
            <a:spcPct val="114000"/>
          </a:lnSpc>
          <a:spcBef>
            <a:spcPts val="300"/>
          </a:spcBef>
          <a:spcAft>
            <a:spcPts val="300"/>
          </a:spcAft>
          <a:defRPr sz="1600" kern="1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-Corporate-Template-2022-v01" id="{3C0B895E-8900-D740-A8D1-BAC8E31294CE}" vid="{2F5C65D9-A095-CA49-A4B9-5304C974175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492</Words>
  <Application>Microsoft Macintosh PowerPoint</Application>
  <PresentationFormat>Widescreen</PresentationFormat>
  <Paragraphs>99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NanumGothic</vt:lpstr>
      <vt:lpstr>Aptos</vt:lpstr>
      <vt:lpstr>Aptos Display</vt:lpstr>
      <vt:lpstr>Arial</vt:lpstr>
      <vt:lpstr>Arial Narrow</vt:lpstr>
      <vt:lpstr>Calibri</vt:lpstr>
      <vt:lpstr>Comic Sans MS</vt:lpstr>
      <vt:lpstr>Office Theme</vt:lpstr>
      <vt:lpstr>1_F5 Theme</vt:lpstr>
      <vt:lpstr>PowerPoint Presentation</vt:lpstr>
      <vt:lpstr>PowerPoint Presentation</vt:lpstr>
      <vt:lpstr>PowerPoint Presentation</vt:lpstr>
      <vt:lpstr>PowerPoint Presentation</vt:lpstr>
      <vt:lpstr>NGF 2.0.0+ (An example flow)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Aminul I. TAREQ</dc:creator>
  <cp:lastModifiedBy>Aminul I. TAREQ</cp:lastModifiedBy>
  <cp:revision>1</cp:revision>
  <dcterms:created xsi:type="dcterms:W3CDTF">2025-12-08T05:43:27Z</dcterms:created>
  <dcterms:modified xsi:type="dcterms:W3CDTF">2025-12-08T07:30:15Z</dcterms:modified>
</cp:coreProperties>
</file>